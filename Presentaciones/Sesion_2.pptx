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Medium"/>
      <p:regular r:id="rId201315"/>
    </p:embeddedFont>
    <p:embeddedFont>
      <p:font typeface="Exo SemiBold"/>
      <p:regular r:id="rId201316"/>
    </p:embeddedFont>
    <p:embeddedFont>
      <p:font typeface="Exo Bold"/>
      <p:regular r:id="rId201317"/>
    </p:embeddedFont>
    <p:embeddedFont>
      <p:font typeface="Fira Mono Medium"/>
      <p:regular r:id="rId201318"/>
    </p:embeddedFont>
    <p:embeddedFont>
      <p:font typeface="Fira Mono Bold"/>
      <p:regular r:id="rId201319"/>
    </p:embeddedFont>
    <p:embeddedFont>
      <p:font typeface="Fira Mono"/>
      <p:regular r:id="rId201320"/>
    </p:embeddedFont>
    <p:embeddedFont>
      <p:font typeface="Michroma"/>
      <p:regular r:id="rId201321"/>
    </p:embeddedFont>
    <p:embeddedFont>
      <p:font typeface="MuseoModerno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983422"/>
            <a:ext cx="76706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DESARROLLO DE SOFTWARE · C#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2284563"/>
            <a:ext cx="7061023" cy="2119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5200" spc="-62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Fundamentos de C#</a:t>
            </a:r>
            <a:endParaRPr lang="en-US" sz="52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5200" spc="-62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para desarrollo de software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11182" y="4604643"/>
            <a:ext cx="176515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5020314"/>
            <a:ext cx="7061023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Una base clara para modelar datos, construir expresiones y controlar el flujo de un programa.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1182" y="5801062"/>
            <a:ext cx="76706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10 CONCEPTOS · SINTAXIS · CONSOLA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096"/>
            <a:ext cx="6507397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Tipos de datos: elegir la representación correcta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57549"/>
            <a:ext cx="476238" cy="476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318" y="1758894"/>
            <a:ext cx="584066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Enteros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276318" y="2218928"/>
            <a:ext cx="58406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cantidades sin decimales.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648137"/>
            <a:ext cx="476238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6318" y="2649482"/>
            <a:ext cx="584066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Decimales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276318" y="3109516"/>
            <a:ext cx="58406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o 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valores con precisión.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38724"/>
            <a:ext cx="476238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6318" y="3540069"/>
            <a:ext cx="584066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Texto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276318" y="4000103"/>
            <a:ext cx="58406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cadenas.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429311"/>
            <a:ext cx="476238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6318" y="4430657"/>
            <a:ext cx="584066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Lógicos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276318" y="4890691"/>
            <a:ext cx="58406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o 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.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319899"/>
            <a:ext cx="476238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6318" y="5321244"/>
            <a:ext cx="584066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Carácter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276318" y="5781278"/>
            <a:ext cx="58406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un símbolo individual.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031259" y="0"/>
            <a:ext cx="4160436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652" y="279400"/>
            <a:ext cx="3601650" cy="59370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10652" y="6395776"/>
            <a:ext cx="388104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 representación correcta hace explícita la intención.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02 · MEMORIA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Variables: memoria con nombre y propósito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44576"/>
          <a:ext cx="10972526" cy="914400"/>
        </p:xfrm>
        <a:graphic>
          <a:graphicData uri="http://schemas.openxmlformats.org/drawingml/2006/table">
            <a:tbl>
              <a:tblPr/>
              <a:tblGrid>
                <a:gridCol w="3730631"/>
                <a:gridCol w="7241895"/>
              </a:tblGrid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CEC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Acción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CEC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Sintaxis o práctica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5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Declarar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edad;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5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Inicializar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edad = 20;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5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Inferir tipo cuando conviene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 total = 125.50;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Nombres y alcance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Usar nombres claros y mantener un alcance controlado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03 · EXPRESIONES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Operadores: construir expresiones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Los operadores transforman valores y permiten expresar una regla de cálculo.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346920"/>
            <a:ext cx="525766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Operadores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9585" y="2908895"/>
            <a:ext cx="5257668" cy="1555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Suma: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+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Resta: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-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Multiplicación: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*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División: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/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Módulo: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% para obtener el residuo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4442" y="2349143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PRECEDENCIA E INTENCIÓN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4442" y="2642791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Respetar la precedencia y usar paréntesis para expresar intención.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2" y="3398044"/>
            <a:ext cx="5257668" cy="685800"/>
          </a:xfrm>
          <a:prstGeom prst="roundRect">
            <a:avLst>
              <a:gd name="adj" fmla="val 1667"/>
            </a:avLst>
          </a:prstGeom>
          <a:solidFill>
            <a:srgbClr val="0E1F40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36" y="3588544"/>
            <a:ext cx="5029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a + b * c;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24442" y="4298156"/>
            <a:ext cx="5257668" cy="685800"/>
          </a:xfrm>
          <a:prstGeom prst="roundRect">
            <a:avLst>
              <a:gd name="adj" fmla="val 1667"/>
            </a:avLst>
          </a:prstGeom>
          <a:solidFill>
            <a:srgbClr val="0E1F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36" y="4488656"/>
            <a:ext cx="5029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(a + b) * c;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5032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35622"/>
            <a:ext cx="465324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04 · SALIDA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827842"/>
            <a:ext cx="4221454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La consola responde.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431789" y="1988344"/>
            <a:ext cx="1055264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5513189"/>
            <a:ext cx="4221454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Imprimir es hacer visible el estado del programa para la persona y para quien lo prueba.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75508" y="566896"/>
            <a:ext cx="5455803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Impresión en pantalla: hablar con la consola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075508" y="1727398"/>
            <a:ext cx="136392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9" name="Text 7"/>
          <p:cNvSpPr/>
          <p:nvPr/>
        </p:nvSpPr>
        <p:spPr>
          <a:xfrm>
            <a:off x="6075508" y="2004893"/>
            <a:ext cx="257545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WRITE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75508" y="2395339"/>
            <a:ext cx="2575456" cy="990600"/>
          </a:xfrm>
          <a:prstGeom prst="roundRect">
            <a:avLst>
              <a:gd name="adj" fmla="val 1154"/>
            </a:avLst>
          </a:prstGeom>
          <a:solidFill>
            <a:srgbClr val="0E1F40"/>
          </a:solidFill>
          <a:ln/>
        </p:spPr>
      </p:sp>
      <p:sp>
        <p:nvSpPr>
          <p:cNvPr id="11" name="Text 9"/>
          <p:cNvSpPr/>
          <p:nvPr/>
        </p:nvSpPr>
        <p:spPr>
          <a:xfrm>
            <a:off x="6304102" y="2585839"/>
            <a:ext cx="211826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Console.WriteLine("Listo");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75508" y="3600252"/>
            <a:ext cx="257545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Escribe y cambia de línea.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55756" y="2004893"/>
            <a:ext cx="257555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WRITE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5756" y="2395339"/>
            <a:ext cx="2575555" cy="685800"/>
          </a:xfrm>
          <a:prstGeom prst="roundRect">
            <a:avLst>
              <a:gd name="adj" fmla="val 1667"/>
            </a:avLst>
          </a:prstGeom>
          <a:solidFill>
            <a:srgbClr val="0E1F40"/>
          </a:solidFill>
          <a:ln/>
        </p:spPr>
      </p:sp>
      <p:sp>
        <p:nvSpPr>
          <p:cNvPr id="15" name="Text 13"/>
          <p:cNvSpPr/>
          <p:nvPr/>
        </p:nvSpPr>
        <p:spPr>
          <a:xfrm>
            <a:off x="9184351" y="2585839"/>
            <a:ext cx="23469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Console.Write("Total: ");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55756" y="3295452"/>
            <a:ext cx="257555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Escribe sin salto de línea.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75508" y="4070429"/>
            <a:ext cx="60653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INTERPOLACIÓN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75508" y="4460875"/>
            <a:ext cx="5455803" cy="685800"/>
          </a:xfrm>
          <a:prstGeom prst="roundRect">
            <a:avLst>
              <a:gd name="adj" fmla="val 1667"/>
            </a:avLst>
          </a:prstGeom>
          <a:solidFill>
            <a:srgbClr val="0E1F4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4102" y="4651375"/>
            <a:ext cx="5608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$"Total: {total}"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75508" y="5360987"/>
            <a:ext cx="606538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Inserta valores dentro del texto.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75508" y="5810782"/>
            <a:ext cx="606538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Separa presentación, datos y lógica para facilitar las pruebas.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701786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05 · ENTRADA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6408280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Entrada por teclado: convertir texto en datos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1602045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20131"/>
            <a:ext cx="6408280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 consola entrega texto. El programa debe convertirlo y decidir qué hacer si no es válido.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147020"/>
            <a:ext cx="8037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413720"/>
            <a:ext cx="1373451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548404"/>
            <a:ext cx="137345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Solicitar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9585" y="4079875"/>
            <a:ext cx="1373451" cy="1295400"/>
          </a:xfrm>
          <a:prstGeom prst="roundRect">
            <a:avLst>
              <a:gd name="adj" fmla="val 882"/>
            </a:avLst>
          </a:prstGeom>
          <a:solidFill>
            <a:srgbClr val="0E1F40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270375"/>
            <a:ext cx="9162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Console.Write("Edad: ");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7828" y="3147020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7828" y="3413720"/>
            <a:ext cx="1373451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7828" y="3548404"/>
            <a:ext cx="137345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Leer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287828" y="4079875"/>
            <a:ext cx="1373451" cy="990600"/>
          </a:xfrm>
          <a:prstGeom prst="roundRect">
            <a:avLst>
              <a:gd name="adj" fmla="val 1154"/>
            </a:avLst>
          </a:prstGeom>
          <a:solidFill>
            <a:srgbClr val="0E1F40"/>
          </a:solidFill>
          <a:ln/>
        </p:spPr>
      </p:sp>
      <p:sp>
        <p:nvSpPr>
          <p:cNvPr id="15" name="Text 13"/>
          <p:cNvSpPr/>
          <p:nvPr/>
        </p:nvSpPr>
        <p:spPr>
          <a:xfrm>
            <a:off x="2516422" y="4270375"/>
            <a:ext cx="9162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Console.ReadLine()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66071" y="3147020"/>
            <a:ext cx="8441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66071" y="3413720"/>
            <a:ext cx="1373451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66071" y="3548404"/>
            <a:ext cx="137345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Convertir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966071" y="4079875"/>
            <a:ext cx="1373451" cy="990600"/>
          </a:xfrm>
          <a:prstGeom prst="roundRect">
            <a:avLst>
              <a:gd name="adj" fmla="val 1154"/>
            </a:avLst>
          </a:prstGeom>
          <a:solidFill>
            <a:srgbClr val="0E1F40"/>
          </a:solidFill>
          <a:ln/>
        </p:spPr>
      </p:sp>
      <p:sp>
        <p:nvSpPr>
          <p:cNvPr id="20" name="Text 18"/>
          <p:cNvSpPr/>
          <p:nvPr/>
        </p:nvSpPr>
        <p:spPr>
          <a:xfrm>
            <a:off x="4194665" y="4270375"/>
            <a:ext cx="9162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int.Parse(texto)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44314" y="3147020"/>
            <a:ext cx="8496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44314" y="3413720"/>
            <a:ext cx="1373451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23" name="Text 21"/>
          <p:cNvSpPr/>
          <p:nvPr/>
        </p:nvSpPr>
        <p:spPr>
          <a:xfrm>
            <a:off x="5644314" y="3548404"/>
            <a:ext cx="137355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Validar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644314" y="4008438"/>
            <a:ext cx="13735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Evita errores de ejecución.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84538" y="0"/>
            <a:ext cx="4107157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3931" y="279400"/>
            <a:ext cx="3548371" cy="581005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363931" y="6395776"/>
            <a:ext cx="38277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Texto de entrada → valor utilizable.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701786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06 · CONTROL DE FLUJO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6408280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Decisiones con if y switch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1602045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6408280" cy="97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if / else eligen según una condición; switch / case organiza opciones discretas de forma legible. Comparadores: </a:t>
            </a:r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==, !=, &gt;, &lt;, &gt;=, &lt;=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; condiciones compuestas: </a:t>
            </a:r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&amp;&amp;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y </a:t>
            </a:r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||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96009"/>
            <a:ext cx="476238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651393"/>
            <a:ext cx="312789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Condición booleana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4111427"/>
            <a:ext cx="312789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Comparadores y operadores.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873" y="2996009"/>
            <a:ext cx="476238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9873" y="3651393"/>
            <a:ext cx="312799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If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889873" y="4111427"/>
            <a:ext cx="312799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Rama verdadera.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534297"/>
            <a:ext cx="476238" cy="476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585" y="5189680"/>
            <a:ext cx="312789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Else / Default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09585" y="5649714"/>
            <a:ext cx="312789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Rama alternativa o por defecto.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873" y="4534297"/>
            <a:ext cx="476238" cy="4762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89873" y="5189680"/>
            <a:ext cx="312799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Switch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3889873" y="5649714"/>
            <a:ext cx="312799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Opciones discretas y casos.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084538" y="0"/>
            <a:ext cx="4107157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931" y="279400"/>
            <a:ext cx="3548371" cy="58354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63931" y="6294176"/>
            <a:ext cx="38277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Condición → camino → acción.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07 · REPETICIÓN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Ciclos </a:t>
            </a:r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: repetir con control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6143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69976"/>
            <a:ext cx="5257668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El ciclo concentra una repetición conocida en cuatro movimientos verificables.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733377"/>
            <a:ext cx="5257668" cy="1600200"/>
          </a:xfrm>
          <a:prstGeom prst="roundRect">
            <a:avLst>
              <a:gd name="adj" fmla="val 714"/>
            </a:avLst>
          </a:prstGeom>
          <a:solidFill>
            <a:srgbClr val="0E1F40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923877"/>
            <a:ext cx="48004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Console.WriteLine(i);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547890"/>
            <a:ext cx="5257668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Aplicar 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para recorrer rangos conocidos, acumular resultados y evitar duplicar código.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1869976"/>
            <a:ext cx="476238" cy="476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24442" y="2525359"/>
            <a:ext cx="247643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Inicializar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324442" y="2985393"/>
            <a:ext cx="24764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Crear el contador.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72" y="1869976"/>
            <a:ext cx="476238" cy="476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05672" y="2525359"/>
            <a:ext cx="247643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Evaluar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105672" y="2985393"/>
            <a:ext cx="24764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Comprobar la condición.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3634978"/>
            <a:ext cx="476238" cy="476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4442" y="4290362"/>
            <a:ext cx="247643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Ejecutar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324442" y="4750395"/>
            <a:ext cx="24764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Procesar el bloque.</a:t>
            </a:r>
            <a:endParaRPr lang="en-US" sz="15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672" y="3634978"/>
            <a:ext cx="476238" cy="4762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5672" y="4290362"/>
            <a:ext cx="247643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Actualizar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105672" y="4750395"/>
            <a:ext cx="24764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Cambiar el contador.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38071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393" y="1879402"/>
            <a:ext cx="1904952" cy="254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9393" y="4611426"/>
            <a:ext cx="2179285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 flujo completo: entrada, decisión, cálculo y repetición.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04745" y="611822"/>
            <a:ext cx="83869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08 · INTEGRACIÓN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04745" y="894485"/>
            <a:ext cx="7777365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2800" spc="-34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Programa integrador: cálculo desde consola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804745" y="1493838"/>
            <a:ext cx="1944242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8" name="Text 5"/>
          <p:cNvSpPr/>
          <p:nvPr/>
        </p:nvSpPr>
        <p:spPr>
          <a:xfrm>
            <a:off x="3804745" y="1749425"/>
            <a:ext cx="777736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Lee dos números, elige una operación, calcula suma, resta o multiplicación, muestra el resultado y repite el menú con un ciclo.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804745" y="2504678"/>
            <a:ext cx="7777365" cy="2819400"/>
          </a:xfrm>
          <a:prstGeom prst="roundRect">
            <a:avLst>
              <a:gd name="adj" fmla="val 405"/>
            </a:avLst>
          </a:prstGeom>
          <a:solidFill>
            <a:srgbClr val="0E1F40"/>
          </a:solidFill>
          <a:ln/>
        </p:spPr>
      </p:sp>
      <p:sp>
        <p:nvSpPr>
          <p:cNvPr id="10" name="Text 7"/>
          <p:cNvSpPr/>
          <p:nvPr/>
        </p:nvSpPr>
        <p:spPr>
          <a:xfrm>
            <a:off x="4033340" y="2695178"/>
            <a:ext cx="7320176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intento = 0; intento &lt; 3; intento++)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 = double.Parse(Console.ReadLine());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 = double.Parse(Console.ReadLine());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op = Console.ReadLine();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 = op switch { "+" =&gt; a + b, "-" =&gt; a - b, "*" =&gt; a * b, _ =&gt; 0 };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Console.WriteLine($"Resultado: {r}");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3" name="Text 1"/>
          <p:cNvSpPr/>
          <p:nvPr/>
        </p:nvSpPr>
        <p:spPr>
          <a:xfrm>
            <a:off x="685783" y="662622"/>
            <a:ext cx="662923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09 · 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783" y="1008975"/>
            <a:ext cx="6019649" cy="14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000000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Pensar como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000000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desarrollador.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85783" y="2596753"/>
            <a:ext cx="1504912" cy="31651"/>
          </a:xfrm>
          <a:prstGeom prst="roundRect">
            <a:avLst>
              <a:gd name="adj" fmla="val 49998"/>
            </a:avLst>
          </a:prstGeom>
          <a:solidFill>
            <a:srgbClr val="3F3F3F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852341"/>
            <a:ext cx="601964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Modelar primero. Expresar después. Controlar el flujo. Probar con datos reales.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73803" y="693896"/>
            <a:ext cx="3632109" cy="190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Conclusiones: pensar como desarrollador de C#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873803" y="2805509"/>
            <a:ext cx="90792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9" name="Text 7"/>
          <p:cNvSpPr/>
          <p:nvPr/>
        </p:nvSpPr>
        <p:spPr>
          <a:xfrm>
            <a:off x="7873803" y="3101082"/>
            <a:ext cx="8035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45566" y="3061097"/>
            <a:ext cx="326034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Los tipos y variables modelan la información.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73803" y="4010025"/>
            <a:ext cx="8466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88626" y="3970040"/>
            <a:ext cx="321728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Los operadores transforman datos.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73803" y="4648498"/>
            <a:ext cx="8451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87138" y="4608513"/>
            <a:ext cx="321877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y 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controlan decisiones.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73803" y="5293320"/>
            <a:ext cx="8486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90710" y="5253335"/>
            <a:ext cx="321520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highlight>
                  <a:srgbClr val="0E1F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automatiza repeticiones.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73803" y="5938143"/>
            <a:ext cx="8526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4678" y="5898158"/>
            <a:ext cx="321123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 consola permite probar el flujo de extremo a extremo.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73803" y="3785890"/>
            <a:ext cx="363210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73803" y="4424362"/>
            <a:ext cx="363210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73803" y="5069185"/>
            <a:ext cx="363210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Shape 20"/>
          <p:cNvSpPr/>
          <p:nvPr/>
        </p:nvSpPr>
        <p:spPr>
          <a:xfrm>
            <a:off x="7873803" y="5714008"/>
            <a:ext cx="363210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2026-10-18T00:40:13Z</dcterms:created>
  <dcterms:modified xsi:type="dcterms:W3CDTF">2026-10-18T00:40:13Z</dcterms:modified>
</cp:coreProperties>
</file>