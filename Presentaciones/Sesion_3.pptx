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exend"/>
      <p:regular r:id="rId201314"/>
    </p:embeddedFont>
    <p:embeddedFont>
      <p:font typeface="Lexend SemiBold"/>
      <p:regular r:id="rId201315"/>
    </p:embeddedFont>
    <p:embeddedFont>
      <p:font typeface="Lexend Bold"/>
      <p:regular r:id="rId201316"/>
    </p:embeddedFont>
    <p:embeddedFont>
      <p:font typeface="Racing Sans One"/>
      <p:regular r:id="rId201317"/>
    </p:embeddedFont>
    <p:embeddedFont>
      <p:font typeface="Saira Condensed"/>
      <p:regular r:id="rId201318"/>
    </p:embeddedFont>
    <p:embeddedFont>
      <p:font typeface="Saira Condensed Medium"/>
      <p:regular r:id="rId201319"/>
    </p:embeddedFont>
    <p:embeddedFont>
      <p:font typeface="Saira Condensed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Bienvenidos a la sesión sobre conceptos fundamentales de .NET Framework. Exploraremos cómo esta arquitectura unificó la creación, ejecución y mantenimiento de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.NET Framework nació para resolver los problemas de fragmentación de librerías, fugas manuales de memoria y falta de comunicación entre lenguajes en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CLR es el motor en ejecución que lleva los programas de .NET a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CTS es la norma que define cómo se representan y usan los tipos de datos en .NET.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CLS es el conjunto de reglas que permite que los lenguajes de .NET trabajen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la diferencia clave entre tipos por valor (copia de contenido) y por referencia (copia del puntero). Subraye cómo los metadatos permiten que herramientas y el CLR conozcan el programa sin necesidad de archivos header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las dos fases: la compilación previa produce un archivo ejecutable portable (bytecode IL); la compilación JIT final produce código binario optimizado para el procesador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jpe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355600"/>
            <a:ext cx="4571886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383" y="976947"/>
            <a:ext cx="6857828" cy="308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ln w="48767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CONCEPTOS</a:t>
            </a:r>
            <a:endParaRPr lang="en-US" sz="64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ln w="48767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FUNDAMENTALES DE</a:t>
            </a:r>
            <a:endParaRPr lang="en-US" sz="64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ln w="48767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.NET FRAMEWORK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660383" y="976947"/>
            <a:ext cx="6857828" cy="308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solidFill>
                  <a:srgbClr val="FFFFF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CONCEPTOS</a:t>
            </a:r>
            <a:endParaRPr lang="en-US" sz="64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solidFill>
                  <a:srgbClr val="FFFFF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FUNDAMENTALES DE</a:t>
            </a:r>
            <a:endParaRPr lang="en-US" sz="64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solidFill>
                  <a:srgbClr val="FFD21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.NET FRAMEWORK</a:t>
            </a:r>
            <a:endParaRPr lang="en-US" sz="6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" y="4066282"/>
            <a:ext cx="3977481" cy="1143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0383" y="4648200"/>
            <a:ext cx="1981150" cy="1320800"/>
          </a:xfrm>
          <a:custGeom>
            <a:avLst/>
            <a:gdLst/>
            <a:ahLst/>
            <a:cxnLst/>
            <a:rect l="l" t="t" r="r" b="b"/>
            <a:pathLst>
              <a:path w="1981150" h="1320800">
                <a:moveTo>
                  <a:pt x="990575" y="0"/>
                </a:moveTo>
                <a:lnTo>
                  <a:pt x="1168879" y="290576"/>
                </a:lnTo>
                <a:lnTo>
                  <a:pt x="1624543" y="105664"/>
                </a:lnTo>
                <a:lnTo>
                  <a:pt x="1485863" y="422656"/>
                </a:lnTo>
                <a:lnTo>
                  <a:pt x="1981150" y="462280"/>
                </a:lnTo>
                <a:lnTo>
                  <a:pt x="1584920" y="686816"/>
                </a:lnTo>
                <a:lnTo>
                  <a:pt x="1941527" y="924560"/>
                </a:lnTo>
                <a:lnTo>
                  <a:pt x="1426428" y="924560"/>
                </a:lnTo>
                <a:lnTo>
                  <a:pt x="1505674" y="1267968"/>
                </a:lnTo>
                <a:lnTo>
                  <a:pt x="1089633" y="1056640"/>
                </a:lnTo>
                <a:lnTo>
                  <a:pt x="832083" y="1320800"/>
                </a:lnTo>
                <a:lnTo>
                  <a:pt x="713214" y="1003808"/>
                </a:lnTo>
                <a:lnTo>
                  <a:pt x="198115" y="1162304"/>
                </a:lnTo>
                <a:lnTo>
                  <a:pt x="396230" y="845312"/>
                </a:lnTo>
                <a:lnTo>
                  <a:pt x="0" y="686816"/>
                </a:lnTo>
                <a:lnTo>
                  <a:pt x="396230" y="501904"/>
                </a:lnTo>
                <a:lnTo>
                  <a:pt x="79246" y="211328"/>
                </a:lnTo>
                <a:lnTo>
                  <a:pt x="594345" y="290576"/>
                </a:lnTo>
                <a:lnTo>
                  <a:pt x="594345" y="26416"/>
                </a:lnTo>
                <a:close/>
              </a:path>
            </a:pathLst>
          </a:custGeom>
          <a:solidFill>
            <a:srgbClr val="FFD21F"/>
          </a:solidFill>
          <a:ln/>
        </p:spPr>
      </p:sp>
      <p:sp>
        <p:nvSpPr>
          <p:cNvPr id="7" name="Shape 3"/>
          <p:cNvSpPr/>
          <p:nvPr/>
        </p:nvSpPr>
        <p:spPr>
          <a:xfrm>
            <a:off x="1168371" y="4826000"/>
            <a:ext cx="965176" cy="9652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12121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219170" y="5170488"/>
            <a:ext cx="86357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3000" spc="-30" kern="100" dirty="0">
                <a:solidFill>
                  <a:srgbClr val="000000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CLR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60383" y="6207125"/>
            <a:ext cx="72134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30" kern="100" dirty="0">
                <a:solidFill>
                  <a:srgbClr val="FFFFFF"/>
                </a:solidFill>
                <a:latin typeface="Saira Condensed Medium" pitchFamily="34" charset="0"/>
                <a:ea typeface="Saira Condensed Medium" pitchFamily="34" charset="-122"/>
                <a:cs typeface="Saira Condensed Medium" pitchFamily="34" charset="-120"/>
              </a:rPr>
              <a:t>Arquitectura, ejecución administrada y componentes de software · Guía de estudio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2" y="4140200"/>
            <a:ext cx="5079873" cy="271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09291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559" cy="812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754" y="204236"/>
            <a:ext cx="8534187" cy="994966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48260" dir="2700000">
              <a:srgbClr val="121216">
                <a:alpha val="10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900" dirty="0">
                <a:ln w="29850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UNA PLATAFORMA PARA CONSTRUIR, EJECUTAR Y MANTENER APLICACIONES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1828754" y="204236"/>
            <a:ext cx="8534187" cy="99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UNA PLATAFORMA PARA CONSTRUIR, EJECUTAR Y MANTENER APLICACIONES</a:t>
            </a:r>
            <a:endParaRPr lang="en-US" sz="3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92" y="0"/>
            <a:ext cx="1493403" cy="10667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5591" y="1661294"/>
            <a:ext cx="609585" cy="609600"/>
          </a:xfrm>
          <a:prstGeom prst="ellipse">
            <a:avLst/>
          </a:prstGeom>
          <a:solidFill>
            <a:srgbClr val="E3152B"/>
          </a:solidFill>
          <a:ln w="38099">
            <a:solidFill>
              <a:srgbClr val="121216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50" y="1729755"/>
            <a:ext cx="472567" cy="4725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371" y="1879500"/>
            <a:ext cx="7382782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Creada por Microsoft para aplicaciones Windows, web y servicios.</a:t>
            </a:r>
            <a:endParaRPr lang="en-US" sz="1850" dirty="0"/>
          </a:p>
        </p:txBody>
      </p:sp>
      <p:sp>
        <p:nvSpPr>
          <p:cNvPr id="10" name="Shape 5"/>
          <p:cNvSpPr/>
          <p:nvPr/>
        </p:nvSpPr>
        <p:spPr>
          <a:xfrm>
            <a:off x="355591" y="2903116"/>
            <a:ext cx="609585" cy="609600"/>
          </a:xfrm>
          <a:prstGeom prst="ellipse">
            <a:avLst/>
          </a:prstGeom>
          <a:solidFill>
            <a:srgbClr val="E3152B"/>
          </a:solidFill>
          <a:ln w="38099">
            <a:solidFill>
              <a:srgbClr val="121216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0" y="2971577"/>
            <a:ext cx="472567" cy="47257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8371" y="3121322"/>
            <a:ext cx="7382782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Incluye el CLR, una biblioteca de clases y herramientas para C# y Visual Basic .NET.</a:t>
            </a:r>
            <a:endParaRPr lang="en-US" sz="1850" dirty="0"/>
          </a:p>
        </p:txBody>
      </p:sp>
      <p:sp>
        <p:nvSpPr>
          <p:cNvPr id="13" name="Shape 7"/>
          <p:cNvSpPr/>
          <p:nvPr/>
        </p:nvSpPr>
        <p:spPr>
          <a:xfrm>
            <a:off x="355591" y="4144938"/>
            <a:ext cx="609585" cy="609600"/>
          </a:xfrm>
          <a:prstGeom prst="ellipse">
            <a:avLst/>
          </a:prstGeom>
          <a:solidFill>
            <a:srgbClr val="E3152B"/>
          </a:solidFill>
          <a:ln w="38099">
            <a:solidFill>
              <a:srgbClr val="121216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50" y="4213399"/>
            <a:ext cx="472567" cy="47257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68371" y="4363144"/>
            <a:ext cx="7382782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Razones de cambio: interoperabilidad entre lenguajes, reutilización de código, memoria automatizada, más seguridad y bibliotecas comunes.</a:t>
            </a:r>
            <a:endParaRPr lang="en-US" sz="1850" dirty="0"/>
          </a:p>
        </p:txBody>
      </p:sp>
      <p:sp>
        <p:nvSpPr>
          <p:cNvPr id="16" name="Shape 9"/>
          <p:cNvSpPr/>
          <p:nvPr/>
        </p:nvSpPr>
        <p:spPr>
          <a:xfrm>
            <a:off x="355591" y="5714181"/>
            <a:ext cx="609585" cy="609600"/>
          </a:xfrm>
          <a:prstGeom prst="ellipse">
            <a:avLst/>
          </a:prstGeom>
          <a:solidFill>
            <a:srgbClr val="E3152B"/>
          </a:solidFill>
          <a:ln w="38099">
            <a:solidFill>
              <a:srgbClr val="121216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050" y="5782642"/>
            <a:ext cx="472567" cy="47257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8371" y="5932387"/>
            <a:ext cx="7382782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Lenguajes distintos, componentes que cooperan: una clase en C# puede usarse desde Visual Basic .NET si hay compatibilidad.</a:t>
            </a:r>
            <a:endParaRPr lang="en-US" sz="1850" dirty="0"/>
          </a:p>
        </p:txBody>
      </p:sp>
      <p:sp>
        <p:nvSpPr>
          <p:cNvPr id="19" name="Shape 11"/>
          <p:cNvSpPr/>
          <p:nvPr/>
        </p:nvSpPr>
        <p:spPr>
          <a:xfrm>
            <a:off x="8855846" y="1588691"/>
            <a:ext cx="2980258" cy="4989909"/>
          </a:xfrm>
          <a:prstGeom prst="rect">
            <a:avLst/>
          </a:prstGeom>
          <a:noFill/>
          <a:ln w="50799">
            <a:solidFill>
              <a:srgbClr val="121216"/>
            </a:solidFill>
            <a:prstDash val="solid"/>
          </a:ln>
          <a:effectLst>
            <a:outerShdw sx="100000" sy="100000" kx="0" ky="0" algn="bl" rotWithShape="0" blurRad="127" dist="143510" dir="2700000">
              <a:srgbClr val="e3152b">
                <a:alpha val="100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6644" y="1639491"/>
            <a:ext cx="2878661" cy="4888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66800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33547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2940" y="399445"/>
            <a:ext cx="7975400" cy="311944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27940" dir="2700000">
              <a:srgbClr val="121216">
                <a:alpha val="10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ln w="17017">
                  <a:solidFill>
                    <a:srgbClr val="E3152B"/>
                  </a:solidFill>
                </a:ln>
                <a:solidFill>
                  <a:srgbClr val="E3152B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CLR: COMMON LANGUAGE RUNTIME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412940" y="399445"/>
            <a:ext cx="797540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CLR: COMMON LANGUAGE RUNTIME</a:t>
            </a:r>
            <a:endParaRPr lang="en-US" sz="2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92" y="0"/>
            <a:ext cx="1493403" cy="1066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987" y="1841230"/>
            <a:ext cx="11175720" cy="420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121216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CLR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507987" y="2388639"/>
            <a:ext cx="11175720" cy="25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spc="36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COMMON LANGUAGE RUNTIME — ENTORNO DE EJECUCIÓN DE LENGUAJE COMÚN.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7987" y="2794982"/>
            <a:ext cx="1117572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¿QUÉ SIGNIFICA?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507987" y="3214569"/>
            <a:ext cx="11683708" cy="25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5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 el motor que permite ejecutar los programas de .NET.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507987" y="3759686"/>
            <a:ext cx="1117572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¿PARA QUÉ SIRVE?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07987" y="4166890"/>
            <a:ext cx="11175720" cy="114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07000"/>
              </a:lnSpc>
              <a:buSzPct val="100000"/>
              <a:buChar char="•"/>
            </a:pPr>
            <a:r>
              <a:rPr lang="en-US" sz="15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Ejecuta el código del programa.</a:t>
            </a:r>
            <a:endParaRPr lang="en-US" sz="1550" dirty="0"/>
          </a:p>
          <a:p>
            <a:pPr algn="l" marL="314960" indent="-314960">
              <a:lnSpc>
                <a:spcPct val="107000"/>
              </a:lnSpc>
              <a:buSzPct val="100000"/>
              <a:buChar char="•"/>
            </a:pPr>
            <a:r>
              <a:rPr lang="en-US" sz="15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Administra la memoria.</a:t>
            </a:r>
            <a:endParaRPr lang="en-US" sz="1550" dirty="0"/>
          </a:p>
          <a:p>
            <a:pPr algn="l" marL="314960" indent="-314960">
              <a:lnSpc>
                <a:spcPct val="107000"/>
              </a:lnSpc>
              <a:buSzPct val="100000"/>
              <a:buChar char="•"/>
            </a:pPr>
            <a:r>
              <a:rPr lang="en-US" sz="15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Detecta y gestiona excepciones.</a:t>
            </a:r>
            <a:endParaRPr lang="en-US" sz="1550" dirty="0"/>
          </a:p>
          <a:p>
            <a:pPr algn="l" marL="314960" indent="-314960">
              <a:lnSpc>
                <a:spcPct val="107000"/>
              </a:lnSpc>
              <a:buSzPct val="100000"/>
              <a:buChar char="•"/>
            </a:pPr>
            <a:r>
              <a:rPr lang="en-US" sz="15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Convierte el código intermedio en instrucciones que entiende el procesador.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07987" y="5613787"/>
            <a:ext cx="1117572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EJEMPLO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507987" y="6033374"/>
            <a:ext cx="11175720" cy="51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5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Cuando ejecutas una calculadora creada en C#, el CLR participa en la ejecución del programa y en la administración de sus recursos.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66800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33547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2940" y="389773"/>
            <a:ext cx="7975400" cy="324842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29210" dir="2700000">
              <a:srgbClr val="121216">
                <a:alpha val="10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50" b="1" spc="47" kern="100" dirty="0">
                <a:ln w="17720">
                  <a:solidFill>
                    <a:srgbClr val="E3152B"/>
                  </a:solidFill>
                </a:ln>
                <a:solidFill>
                  <a:srgbClr val="E3152B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CTS: COMMON TYPE SYSTEM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2412940" y="389773"/>
            <a:ext cx="7975400" cy="324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50" b="1" spc="47" kern="10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CTS: COMMON TYPE SYSTEM</a:t>
            </a:r>
            <a:endParaRPr lang="en-US" sz="2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92" y="0"/>
            <a:ext cx="1493403" cy="1066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987" y="1846415"/>
            <a:ext cx="1117572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50" dirty="0">
                <a:solidFill>
                  <a:srgbClr val="121216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CTS</a:t>
            </a:r>
            <a:endParaRPr lang="en-US" sz="3450" dirty="0"/>
          </a:p>
        </p:txBody>
      </p:sp>
      <p:sp>
        <p:nvSpPr>
          <p:cNvPr id="8" name="Text 4"/>
          <p:cNvSpPr/>
          <p:nvPr/>
        </p:nvSpPr>
        <p:spPr>
          <a:xfrm>
            <a:off x="507987" y="2420641"/>
            <a:ext cx="111757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spc="38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COMMON TYPE SYSTEM — SISTEMA DE TIPOS COMÚN.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07987" y="2844643"/>
            <a:ext cx="11175720" cy="324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50" b="1" spc="47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¿QUÉ SIGNIFICA?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507987" y="3291057"/>
            <a:ext cx="11683708" cy="27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6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 el sistema que define cómo se representan y utilizan los tipos de datos en .NET.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07987" y="3871161"/>
            <a:ext cx="11175720" cy="324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50" b="1" spc="47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¿PARA QUÉ SIRVE?</a:t>
            </a:r>
            <a:endParaRPr lang="en-US" sz="2350" dirty="0"/>
          </a:p>
        </p:txBody>
      </p:sp>
      <p:sp>
        <p:nvSpPr>
          <p:cNvPr id="12" name="Text 8"/>
          <p:cNvSpPr/>
          <p:nvPr/>
        </p:nvSpPr>
        <p:spPr>
          <a:xfrm>
            <a:off x="507987" y="4304308"/>
            <a:ext cx="11175720" cy="901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09000"/>
              </a:lnSpc>
              <a:buSzPct val="100000"/>
              <a:buChar char="•"/>
            </a:pPr>
            <a:r>
              <a:rPr lang="en-US" sz="16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Define tipos como enteros, números decimales y valores lógicos.</a:t>
            </a:r>
            <a:endParaRPr lang="en-US" sz="1650" dirty="0"/>
          </a:p>
          <a:p>
            <a:pPr algn="l" marL="335280" indent="-335280">
              <a:lnSpc>
                <a:spcPct val="109000"/>
              </a:lnSpc>
              <a:buSzPct val="100000"/>
              <a:buChar char="•"/>
            </a:pPr>
            <a:r>
              <a:rPr lang="en-US" sz="16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Establece reglas comunes para trabajar con esos tipos.</a:t>
            </a:r>
            <a:endParaRPr lang="en-US" sz="1650" dirty="0"/>
          </a:p>
          <a:p>
            <a:pPr algn="l" marL="335280" indent="-335280">
              <a:lnSpc>
                <a:spcPct val="109000"/>
              </a:lnSpc>
              <a:buSzPct val="100000"/>
              <a:buChar char="•"/>
            </a:pPr>
            <a:r>
              <a:rPr lang="en-US" sz="16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Facilita que diferentes lenguajes compatibles compartan datos y objetos.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07987" y="5528709"/>
            <a:ext cx="11175720" cy="324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50" b="1" spc="47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EJEMPLO</a:t>
            </a:r>
            <a:endParaRPr lang="en-US" sz="2350" dirty="0"/>
          </a:p>
        </p:txBody>
      </p:sp>
      <p:sp>
        <p:nvSpPr>
          <p:cNvPr id="14" name="Text 10"/>
          <p:cNvSpPr/>
          <p:nvPr/>
        </p:nvSpPr>
        <p:spPr>
          <a:xfrm>
            <a:off x="507987" y="5975122"/>
            <a:ext cx="11175720" cy="541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6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C# utiliza </a:t>
            </a:r>
            <a:pPr algn="l" indent="0" marL="0">
              <a:lnSpc>
                <a:spcPct val="109000"/>
              </a:lnSpc>
              <a:buNone/>
            </a:pPr>
            <a:r>
              <a:rPr lang="en-US" sz="165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09000"/>
              </a:lnSpc>
              <a:buNone/>
            </a:pPr>
            <a:r>
              <a:rPr lang="en-US" sz="16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para representar un número entero. El CTS define el tipo subyacente correspondiente, </a:t>
            </a:r>
            <a:pPr algn="l" indent="0" marL="0">
              <a:lnSpc>
                <a:spcPct val="109000"/>
              </a:lnSpc>
              <a:buNone/>
            </a:pPr>
            <a:r>
              <a:rPr lang="en-US" sz="165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System.Int32</a:t>
            </a:r>
            <a:pPr algn="l" indent="0" marL="0">
              <a:lnSpc>
                <a:spcPct val="109000"/>
              </a:lnSpc>
              <a:buNone/>
            </a:pPr>
            <a:r>
              <a:rPr lang="en-US" sz="16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que también puede utilizarse desde otros lenguajes de .NET.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66800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33547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2940" y="398414"/>
            <a:ext cx="7975400" cy="313333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27940" dir="2700000">
              <a:srgbClr val="121216">
                <a:alpha val="10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ln w="17090">
                  <a:solidFill>
                    <a:srgbClr val="E3152B"/>
                  </a:solidFill>
                </a:ln>
                <a:solidFill>
                  <a:srgbClr val="E3152B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CLS: COMMON LANGUAGE SPECIFICATION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412940" y="398414"/>
            <a:ext cx="7975400" cy="3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solidFill>
                  <a:srgbClr val="FFFFF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CLS: COMMON LANGUAGE SPECIFICATION</a:t>
            </a:r>
            <a:endParaRPr lang="en-US" sz="2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92" y="0"/>
            <a:ext cx="1493403" cy="1066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987" y="1840777"/>
            <a:ext cx="11175720" cy="42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121216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CLS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507987" y="2391441"/>
            <a:ext cx="11175720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b="1" spc="37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COMMON LANGUAGE SPECIFICATION — ESPECIFICACIÓN DE LENGUAJE COMÚN.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07987" y="2800103"/>
            <a:ext cx="11175720" cy="3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¿QUÉ SIGNIFICA?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507987" y="3222007"/>
            <a:ext cx="11175720" cy="513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 un conjunto de reglas que facilita que los programas escritos en diferentes lenguajes de .NET puedan trabajar juntos.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7987" y="4027836"/>
            <a:ext cx="11175720" cy="3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¿PARA QUÉ SIRVE?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07987" y="4437757"/>
            <a:ext cx="11175720" cy="85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Favorece la compatibilidad entre lenguajes.</a:t>
            </a:r>
            <a:endParaRPr lang="en-US" sz="1600" dirty="0"/>
          </a:p>
          <a:p>
            <a:pPr algn="l" marL="325120" indent="-325120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Permite crear bibliotecas que puedan utilizarse desde distintos lenguajes.</a:t>
            </a:r>
            <a:endParaRPr lang="en-US" sz="1600" dirty="0"/>
          </a:p>
          <a:p>
            <a:pPr algn="l" marL="325120" indent="-325120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Establece un conjunto común de características que los lenguajes deben respetar para interoperar.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7987" y="5595492"/>
            <a:ext cx="11175720" cy="31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45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EJEMPLO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507987" y="6017396"/>
            <a:ext cx="11175720" cy="513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Puedes crear una clase en C# y utilizarla desde Visual Basic .NET, siempre que sus elementos públicos sean compatibles con las reglas del CLS.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66800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33547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11342" y="223838"/>
            <a:ext cx="8254793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33020" dir="2700000">
              <a:srgbClr val="121216">
                <a:alpha val="10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ln w="20573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TIPOS DE DATOS Y METADATOS DESCRIBEN EL PROGRAMA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311342" y="223838"/>
            <a:ext cx="82547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TIPOS DE DATOS Y METADATOS DESCRIBEN EL PROGRAMA</a:t>
            </a:r>
            <a:endParaRPr lang="en-US" sz="2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92" y="0"/>
            <a:ext cx="1493403" cy="10667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7987" y="1778000"/>
            <a:ext cx="3521979" cy="4775200"/>
          </a:xfrm>
          <a:prstGeom prst="rect">
            <a:avLst/>
          </a:prstGeom>
          <a:solidFill>
            <a:srgbClr val="EEF1F8"/>
          </a:solidFill>
          <a:ln w="50799">
            <a:solidFill>
              <a:srgbClr val="12121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1981" y="2056765"/>
            <a:ext cx="301399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b="1" spc="54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TIPOS DE VALOR</a:t>
            </a:r>
            <a:endParaRPr lang="en-US" sz="2700" dirty="0"/>
          </a:p>
        </p:txBody>
      </p:sp>
      <p:sp>
        <p:nvSpPr>
          <p:cNvPr id="9" name="Shape 5"/>
          <p:cNvSpPr/>
          <p:nvPr/>
        </p:nvSpPr>
        <p:spPr>
          <a:xfrm>
            <a:off x="761981" y="2639318"/>
            <a:ext cx="3013992" cy="50701"/>
          </a:xfrm>
          <a:prstGeom prst="roundRect">
            <a:avLst>
              <a:gd name="adj" fmla="val 49999"/>
            </a:avLst>
          </a:prstGeom>
          <a:solidFill>
            <a:srgbClr val="E3152B"/>
          </a:solidFill>
          <a:ln/>
        </p:spPr>
      </p:sp>
      <p:sp>
        <p:nvSpPr>
          <p:cNvPr id="10" name="Text 6"/>
          <p:cNvSpPr/>
          <p:nvPr/>
        </p:nvSpPr>
        <p:spPr>
          <a:xfrm>
            <a:off x="761981" y="2970788"/>
            <a:ext cx="3013992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Tipos de valor: 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4334759" y="1778000"/>
            <a:ext cx="3522078" cy="4775200"/>
          </a:xfrm>
          <a:prstGeom prst="rect">
            <a:avLst/>
          </a:prstGeom>
          <a:solidFill>
            <a:srgbClr val="EEF1F8"/>
          </a:solidFill>
          <a:ln w="50799">
            <a:solidFill>
              <a:srgbClr val="1212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88752" y="2056765"/>
            <a:ext cx="301409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b="1" spc="54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TIPOS DE REFERENCIA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4588752" y="2639318"/>
            <a:ext cx="3014091" cy="50701"/>
          </a:xfrm>
          <a:prstGeom prst="roundRect">
            <a:avLst>
              <a:gd name="adj" fmla="val 49999"/>
            </a:avLst>
          </a:prstGeom>
          <a:solidFill>
            <a:srgbClr val="1B4DFF"/>
          </a:solidFill>
          <a:ln/>
        </p:spPr>
      </p:sp>
      <p:sp>
        <p:nvSpPr>
          <p:cNvPr id="14" name="Text 10"/>
          <p:cNvSpPr/>
          <p:nvPr/>
        </p:nvSpPr>
        <p:spPr>
          <a:xfrm>
            <a:off x="4588752" y="2970788"/>
            <a:ext cx="3014091" cy="101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Tipos de referencia: 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arreglos, clases e interfaces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8161629" y="1778000"/>
            <a:ext cx="3522078" cy="4775200"/>
          </a:xfrm>
          <a:prstGeom prst="rect">
            <a:avLst/>
          </a:prstGeom>
          <a:solidFill>
            <a:srgbClr val="121216"/>
          </a:solidFill>
          <a:ln w="50799">
            <a:solidFill>
              <a:srgbClr val="1212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415623" y="2056765"/>
            <a:ext cx="301409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b="1" spc="54" kern="100" dirty="0">
                <a:solidFill>
                  <a:srgbClr val="FFD21F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METADATOS</a:t>
            </a:r>
            <a:endParaRPr lang="en-US" sz="2700" dirty="0"/>
          </a:p>
        </p:txBody>
      </p:sp>
      <p:sp>
        <p:nvSpPr>
          <p:cNvPr id="17" name="Shape 13"/>
          <p:cNvSpPr/>
          <p:nvPr/>
        </p:nvSpPr>
        <p:spPr>
          <a:xfrm>
            <a:off x="8415623" y="2639318"/>
            <a:ext cx="3014091" cy="50701"/>
          </a:xfrm>
          <a:prstGeom prst="roundRect">
            <a:avLst>
              <a:gd name="adj" fmla="val 49999"/>
            </a:avLst>
          </a:prstGeom>
          <a:solidFill>
            <a:srgbClr val="FFD21F"/>
          </a:solidFill>
          <a:ln/>
        </p:spPr>
      </p:sp>
      <p:sp>
        <p:nvSpPr>
          <p:cNvPr id="18" name="Text 14"/>
          <p:cNvSpPr/>
          <p:nvPr/>
        </p:nvSpPr>
        <p:spPr>
          <a:xfrm>
            <a:off x="8415623" y="2970788"/>
            <a:ext cx="3014091" cy="1688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 metadatos describen tipos, métodos y propiedades en los ensamblados y habilitan la reflexión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37630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609600"/>
            <a:ext cx="1236929" cy="618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08495" y="499089"/>
            <a:ext cx="7561371" cy="922933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44450" dir="2700000">
              <a:srgbClr val="121216">
                <a:alpha val="10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50" dirty="0">
                <a:ln w="27689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DEL CÓDIGO C# AL CÓDIGO MÁQUINA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2608495" y="499089"/>
            <a:ext cx="7561371" cy="92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DEL CÓDIGO C# AL CÓDIGO MÁQUINA</a:t>
            </a:r>
            <a:endParaRPr lang="en-US" sz="3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649" y="609600"/>
            <a:ext cx="650164" cy="4643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987" y="2073982"/>
            <a:ext cx="11175720" cy="219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7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Compilación a CIL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07987" y="2073982"/>
            <a:ext cx="11175720" cy="219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7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Carga y Verificación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07987" y="2073982"/>
            <a:ext cx="11175720" cy="219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7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Compilación JIT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066230"/>
            <a:ext cx="11175720" cy="2192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7987" y="4436368"/>
            <a:ext cx="3521979" cy="76200"/>
          </a:xfrm>
          <a:prstGeom prst="rect">
            <a:avLst/>
          </a:prstGeom>
          <a:solidFill>
            <a:srgbClr val="E3152B"/>
          </a:solidFill>
          <a:ln/>
        </p:spPr>
      </p:sp>
      <p:sp>
        <p:nvSpPr>
          <p:cNvPr id="12" name="Text 7"/>
          <p:cNvSpPr/>
          <p:nvPr/>
        </p:nvSpPr>
        <p:spPr>
          <a:xfrm>
            <a:off x="507987" y="4664968"/>
            <a:ext cx="728446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E3152B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507987" y="4973055"/>
            <a:ext cx="3394982" cy="87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7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código C# se compila a CIL (MSIL), con metadatos, en un ensamblado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4334759" y="4436368"/>
            <a:ext cx="3522078" cy="76200"/>
          </a:xfrm>
          <a:prstGeom prst="rect">
            <a:avLst/>
          </a:prstGeom>
          <a:solidFill>
            <a:srgbClr val="1B4DFF"/>
          </a:solidFill>
          <a:ln/>
        </p:spPr>
      </p:sp>
      <p:sp>
        <p:nvSpPr>
          <p:cNvPr id="15" name="Text 10"/>
          <p:cNvSpPr/>
          <p:nvPr/>
        </p:nvSpPr>
        <p:spPr>
          <a:xfrm>
            <a:off x="4461756" y="4664968"/>
            <a:ext cx="729736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E3152B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4461756" y="4973055"/>
            <a:ext cx="3268085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7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CLR carga el ensamblado y verifica sus elementos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8161629" y="4436368"/>
            <a:ext cx="3522078" cy="76200"/>
          </a:xfrm>
          <a:prstGeom prst="rect">
            <a:avLst/>
          </a:prstGeom>
          <a:solidFill>
            <a:srgbClr val="FFD21F"/>
          </a:solidFill>
          <a:ln/>
        </p:spPr>
      </p:sp>
      <p:sp>
        <p:nvSpPr>
          <p:cNvPr id="18" name="Text 13"/>
          <p:cNvSpPr/>
          <p:nvPr/>
        </p:nvSpPr>
        <p:spPr>
          <a:xfrm>
            <a:off x="8288626" y="4664968"/>
            <a:ext cx="734796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E3152B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288626" y="4973055"/>
            <a:ext cx="3395081" cy="87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7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compilador JIT traduce el CIL a código nativo del procesador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507987" y="6029536"/>
            <a:ext cx="11175720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75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Ejecución administrada: el CLR gestiona memoria, excepciones y verificación de tipos, pero no elimina todos los errores.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66800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33547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2940" y="395288"/>
            <a:ext cx="7975400" cy="342900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33020" dir="2700000">
              <a:srgbClr val="121216">
                <a:alpha val="10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ln w="20573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.ASPX Y .ASPX.CS SEPARAN INTERFAZ Y LÓGICA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412940" y="395288"/>
            <a:ext cx="79754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.ASPX Y .ASPX.CS SEPARAN INTERFAZ Y LÓGICA</a:t>
            </a:r>
            <a:endParaRPr lang="en-US" sz="2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92" y="0"/>
            <a:ext cx="1493403" cy="1066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987" y="1809432"/>
            <a:ext cx="11683708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Característica de ASP.NET Web Forms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507987" y="2357041"/>
            <a:ext cx="5435464" cy="2750443"/>
          </a:xfrm>
          <a:prstGeom prst="rect">
            <a:avLst/>
          </a:prstGeom>
          <a:solidFill>
            <a:srgbClr val="EEF1F8"/>
          </a:solidFill>
          <a:ln w="50799">
            <a:solidFill>
              <a:srgbClr val="12121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3578" y="2737406"/>
            <a:ext cx="472428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b="1" spc="54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.ASPX (MARKUP)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863578" y="3261221"/>
            <a:ext cx="4724282" cy="149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HTML y controles de servidor: la interfaz.</a:t>
            </a:r>
            <a:endParaRPr lang="en-US" sz="19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Ejemplo: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Calculadora.aspx tiene los campos y el botón.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48244" y="2357041"/>
            <a:ext cx="5435464" cy="2750443"/>
          </a:xfrm>
          <a:prstGeom prst="rect">
            <a:avLst/>
          </a:prstGeom>
          <a:solidFill>
            <a:srgbClr val="EEF1F8"/>
          </a:solidFill>
          <a:ln w="50799">
            <a:solidFill>
              <a:srgbClr val="1212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03835" y="2737406"/>
            <a:ext cx="472428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b="1" spc="54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.ASPX.CS (CODE-BEHIND)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6603835" y="3261221"/>
            <a:ext cx="4724282" cy="115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Eventos, validaciones y lógica en C#.</a:t>
            </a:r>
            <a:endParaRPr lang="en-US" sz="19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Ejemplo: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Calculadora.aspx.cs calcula la suma.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76400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457200"/>
            <a:ext cx="1432484" cy="7162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32644" y="512763"/>
            <a:ext cx="6126307" cy="711200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34290" dir="2700000">
              <a:srgbClr val="121216">
                <a:alpha val="10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dirty="0">
                <a:ln w="21335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NAMESPACES Y HERENCIA ORGANIZAN LAS CLASES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032644" y="512763"/>
            <a:ext cx="612630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NAMESPACES Y HERENCIA ORGANIZAN LAS CLASES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040" y="457200"/>
            <a:ext cx="1066773" cy="76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176" y="2158365"/>
            <a:ext cx="4444889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b="1" spc="54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NAMESPACES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965176" y="2688213"/>
            <a:ext cx="4444889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 namespaces agrupan tipos y evitan conflictos de nombres.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965176" y="3632299"/>
            <a:ext cx="4444889" cy="50701"/>
          </a:xfrm>
          <a:prstGeom prst="roundRect">
            <a:avLst>
              <a:gd name="adj" fmla="val 49999"/>
            </a:avLst>
          </a:prstGeom>
          <a:solidFill>
            <a:srgbClr val="E3152B"/>
          </a:solidFill>
          <a:ln/>
        </p:spPr>
      </p:sp>
      <p:sp>
        <p:nvSpPr>
          <p:cNvPr id="10" name="Text 6"/>
          <p:cNvSpPr/>
          <p:nvPr/>
        </p:nvSpPr>
        <p:spPr>
          <a:xfrm>
            <a:off x="965176" y="3957737"/>
            <a:ext cx="4444889" cy="904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9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highlight>
                  <a:srgbClr val="EEF1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System.Collections.Generic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781630" y="2158365"/>
            <a:ext cx="4444889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b="1" spc="54" kern="100" dirty="0">
                <a:solidFill>
                  <a:srgbClr val="121216"/>
                </a:solidFill>
                <a:latin typeface="Saira Condensed Bold" pitchFamily="34" charset="0"/>
                <a:ea typeface="Saira Condensed Bold" pitchFamily="34" charset="-122"/>
                <a:cs typeface="Saira Condensed Bold" pitchFamily="34" charset="-120"/>
              </a:rPr>
              <a:t>HERENCIA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1630" y="2682180"/>
          <a:ext cx="4444889" cy="914400"/>
        </p:xfrm>
        <a:graphic>
          <a:graphicData uri="http://schemas.openxmlformats.org/drawingml/2006/table">
            <a:tbl>
              <a:tblPr/>
              <a:tblGrid>
                <a:gridCol w="663558"/>
                <a:gridCol w="3781330"/>
              </a:tblGrid>
              <a:tr h="13597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9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spc="44" kern="100" dirty="0">
                          <a:solidFill>
                            <a:srgbClr val="121216"/>
                          </a:solidFill>
                          <a:latin typeface="Saira Condensed" pitchFamily="34" charset="0"/>
                          <a:ea typeface="Saira Condensed" pitchFamily="34" charset="-122"/>
                          <a:cs typeface="Saira Condensed" pitchFamily="34" charset="-120"/>
                        </a:rPr>
                        <a:t>SYSTEM.OBJECT</a:t>
                      </a:r>
                      <a:endParaRPr lang="en-US" sz="2200" dirty="0">
                        <a:latin typeface="Saira Condensed" charset="0"/>
                        <a:ea typeface="Saira Condensed" charset="0"/>
                        <a:cs typeface="Saira Condense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900" b="1" spc="44" kern="100" dirty="0">
                          <a:solidFill>
                            <a:srgbClr val="121216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Muchas clases derivan de System.Object.</a:t>
                      </a:r>
                      <a:endParaRPr lang="en-US" sz="2200" dirty="0">
                        <a:latin typeface="Saira Condensed" charset="0"/>
                        <a:ea typeface="Saira Condensed" charset="0"/>
                        <a:cs typeface="Saira Condensed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0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9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spc="44" kern="100" dirty="0">
                          <a:solidFill>
                            <a:srgbClr val="121216"/>
                          </a:solidFill>
                          <a:latin typeface="Saira Condensed" pitchFamily="34" charset="0"/>
                          <a:ea typeface="Saira Condensed" pitchFamily="34" charset="-122"/>
                          <a:cs typeface="Saira Condensed" pitchFamily="34" charset="-120"/>
                        </a:rPr>
                        <a:t>PERSONA</a:t>
                      </a:r>
                      <a:endParaRPr lang="en-US" sz="2200" dirty="0">
                        <a:latin typeface="Saira Condensed" charset="0"/>
                        <a:ea typeface="Saira Condensed" charset="0"/>
                        <a:cs typeface="Saira Condense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900" b="1" spc="44" kern="100" dirty="0">
                          <a:solidFill>
                            <a:srgbClr val="121216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Nombre, Edad.</a:t>
                      </a:r>
                      <a:endParaRPr lang="en-US" sz="2200" dirty="0">
                        <a:latin typeface="Saira Condensed" charset="0"/>
                        <a:ea typeface="Saira Condensed" charset="0"/>
                        <a:cs typeface="Saira Condensed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7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9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spc="44" kern="100" dirty="0">
                          <a:solidFill>
                            <a:srgbClr val="121216"/>
                          </a:solidFill>
                          <a:latin typeface="Saira Condensed" pitchFamily="34" charset="0"/>
                          <a:ea typeface="Saira Condensed" pitchFamily="34" charset="-122"/>
                          <a:cs typeface="Saira Condensed" pitchFamily="34" charset="-120"/>
                        </a:rPr>
                        <a:t>EJEMPLO: ESTUDIANTE</a:t>
                      </a:r>
                      <a:endParaRPr lang="en-US" sz="2200" dirty="0">
                        <a:latin typeface="Saira Condensed" charset="0"/>
                        <a:ea typeface="Saira Condensed" charset="0"/>
                        <a:cs typeface="Saira Condense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900" b="1" spc="44" kern="100" dirty="0">
                          <a:solidFill>
                            <a:srgbClr val="121216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Hereda de Persona (Nombre, Edad) y añade Curso.</a:t>
                      </a:r>
                      <a:endParaRPr lang="en-US" sz="2200" dirty="0">
                        <a:latin typeface="Saira Condensed" charset="0"/>
                        <a:ea typeface="Saira Condensed" charset="0"/>
                        <a:cs typeface="Saira Condensed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601" y="2979241"/>
            <a:ext cx="301617" cy="301625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601" y="4339034"/>
            <a:ext cx="301617" cy="301625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601" y="5361087"/>
            <a:ext cx="301617" cy="301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66800"/>
          </a:xfrm>
          <a:prstGeom prst="rect">
            <a:avLst/>
          </a:prstGeom>
          <a:solidFill>
            <a:srgbClr val="1212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33547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35144" y="328613"/>
            <a:ext cx="8330992" cy="508000"/>
          </a:xfrm>
          <a:prstGeom prst="rect">
            <a:avLst/>
          </a:prstGeom>
          <a:noFill/>
          <a:ln/>
          <a:effectLst>
            <a:outerShdw sx="100000" sy="100000" kx="0" ky="0" algn="bl" rotWithShape="0" blurRad="127" dist="49530" dir="2700000">
              <a:srgbClr val="121216">
                <a:alpha val="10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ln w="30479">
                  <a:solidFill>
                    <a:srgbClr val="E3152B"/>
                  </a:solidFill>
                </a:ln>
                <a:solidFill>
                  <a:srgbClr val="E3152B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RESUMEN DE CONCEPTOS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2235144" y="328613"/>
            <a:ext cx="8330992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acing Sans One" pitchFamily="34" charset="0"/>
                <a:ea typeface="Racing Sans One" pitchFamily="34" charset="-122"/>
                <a:cs typeface="Racing Sans One" pitchFamily="34" charset="-120"/>
              </a:rPr>
              <a:t>RESUMEN DE CONCEPTOS</a:t>
            </a:r>
            <a:endParaRPr lang="en-US" sz="4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92" y="0"/>
            <a:ext cx="1493403" cy="1066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176" y="3665021"/>
            <a:ext cx="2810797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CLR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ejecuta, </a:t>
            </a:r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CTS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tipifica y </a:t>
            </a:r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CLS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permite la interoperabilidad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690350" y="3496151"/>
            <a:ext cx="2810896" cy="13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 </a:t>
            </a:r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metadatos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describen los ensamblados; el </a:t>
            </a:r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JIT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genera el código nativo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415623" y="3327281"/>
            <a:ext cx="2810896" cy="1688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Nota: </a:t>
            </a:r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.NET Framework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está orientado a Windows; </a:t>
            </a:r>
            <a:pPr algn="l" indent="0" marL="0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21216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ASP.NET Web Forms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2121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no existe en el .NET moderno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226811" y="1752600"/>
            <a:ext cx="12700" cy="4826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11" name="Shape 7"/>
          <p:cNvSpPr/>
          <p:nvPr/>
        </p:nvSpPr>
        <p:spPr>
          <a:xfrm>
            <a:off x="7952085" y="1752600"/>
            <a:ext cx="12700" cy="4826000"/>
          </a:xfrm>
          <a:prstGeom prst="rect">
            <a:avLst/>
          </a:prstGeom>
          <a:solidFill>
            <a:srgbClr val="1212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2026-10-18T01:30:41Z</dcterms:created>
  <dcterms:modified xsi:type="dcterms:W3CDTF">2026-10-18T01:30:41Z</dcterms:modified>
</cp:coreProperties>
</file>