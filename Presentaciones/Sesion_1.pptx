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ira Sans Extra Condensed SemiBold"/>
      <p:regular r:id="rId201314"/>
    </p:embeddedFont>
    <p:embeddedFont>
      <p:font typeface="Fira Sans Extra Condensed Black"/>
      <p:regular r:id="rId201315"/>
    </p:embeddedFont>
    <p:embeddedFont>
      <p:font typeface="IBM Plex Mono SemiBold"/>
      <p:regular r:id="rId201316"/>
    </p:embeddedFont>
    <p:embeddedFont>
      <p:font typeface="Red Hat Text Bold"/>
      <p:regular r:id="rId201317"/>
    </p:embeddedFont>
    <p:embeddedFont>
      <p:font typeface="Red Hat Text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recorrido: primero veremos qué son C# y .NET, después cómo una consola recibe y procesa datos, y finalmente construiremos la lógica de una calculadora.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C# busca reducir errores frecuentes sin convertir cada tarea en trabajo manual. La historia de .NET Framework sitúa el origen del lenguaje; no equivale a toda la plataforma .NET moderna.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la analogía de una receta y una cocina: C# es la forma de escribir la receta; .NET ofrece el entorno y los recursos que permiten ejecutarla.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 el recorrido de una aplicación sencilla. La entrada llega como texto, la lógica decide qué hacer y la salida devuelve una respuesta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 cada tipo con el dato que representa. Después muestra cómo un operador convierte esos datos en una pregunta: por ejemplo, calcular un promedio y comprobar si alcanza una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las cuatro herramientas como decisiones distintas: elegir, seleccionar, repetir con límite y repetir mientras una condición se mantenga.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 que escribir código no es el primer paso. Una solución clara primero define qué debe ocurrir; después se traduce a instrucciones que el lenguaje puede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sintaxis familiar facilita el comienzo, pero no permite asumir que las herramientas, bibliotecas y convenciones serán iguales.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 sin convertir la elección en una competencia. El objetivo es reconocer qué conceptos se transfieren y qué conocimientos deben aprenderse de nuevo al cambiar de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reto como una síntesis de toda la clase: entrada, variables, operadores, decisiones y pruebas. Pide que primero escriban los pasos en lenguaje cotidiano y después los conviertan en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5D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5D0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E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367182"/>
            <a:ext cx="114805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FFF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PROGRAMACIÓN · FUNDAMENTOS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1182" y="1947049"/>
            <a:ext cx="11175720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INTRODUCCIÓN</a:t>
            </a:r>
            <a:endParaRPr lang="en-US" sz="12000" dirty="0"/>
          </a:p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A C# Y .NET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11182" y="4714538"/>
            <a:ext cx="1117572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Aprender los fundamentos para construir programas de consola y pensar como programador.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 · EL LENGUAJE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C# NACIÓ PARA CREAR SOFTWARE ROBUSTO Y PRODUCTIVO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07413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Moderno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2570758"/>
            <a:ext cx="355591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Lenguaje generalista, orientado a objetos.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17892" y="207413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Robusto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892" y="2570758"/>
            <a:ext cx="355591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Tipado fuerte y comprobaciones de límites.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78595" y="2074130"/>
            <a:ext cx="355591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Productivo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78595" y="2570758"/>
            <a:ext cx="3555911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Recolección automática de memoria.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189" y="5813147"/>
            <a:ext cx="112773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DDBFB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 primera implementación ampliamente distribuida apareció en julio de 2000, como parte de la iniciativa .NET Framework.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66003"/>
            <a:ext cx="78636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 · DOS CAPAS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1117600"/>
            <a:ext cx="7406494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C# ESCRIBE LA LÓGICA; .NET APORTA EL ENTORNO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293937"/>
            <a:ext cx="786368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ciclo básico es: iniciar, leer, procesar y responder.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65" y="0"/>
            <a:ext cx="3566130" cy="3276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3581400"/>
            <a:ext cx="3860703" cy="327660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7" name="Text 4"/>
          <p:cNvSpPr/>
          <p:nvPr/>
        </p:nvSpPr>
        <p:spPr>
          <a:xfrm>
            <a:off x="457189" y="4055330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C#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189" y="4551958"/>
            <a:ext cx="294632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Lenguaje para expresar instrucciones y reglas.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65496" y="3581400"/>
            <a:ext cx="3860703" cy="3276600"/>
          </a:xfrm>
          <a:prstGeom prst="rect">
            <a:avLst/>
          </a:prstGeom>
          <a:solidFill>
            <a:srgbClr val="FF9F55"/>
          </a:solidFill>
          <a:ln/>
        </p:spPr>
      </p:sp>
      <p:sp>
        <p:nvSpPr>
          <p:cNvPr id="10" name="Text 7"/>
          <p:cNvSpPr/>
          <p:nvPr/>
        </p:nvSpPr>
        <p:spPr>
          <a:xfrm>
            <a:off x="4622684" y="4055330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.NET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22684" y="4551958"/>
            <a:ext cx="294632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Runtime, bibliotecas y herramientas para ejecutar aplicaciones.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330992" y="3581400"/>
            <a:ext cx="3860703" cy="3276600"/>
          </a:xfrm>
          <a:prstGeom prst="rect">
            <a:avLst/>
          </a:prstGeom>
          <a:solidFill>
            <a:srgbClr val="731830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180" y="4055330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Consola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788180" y="4551958"/>
            <a:ext cx="294632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Entorno sencillo para leer entradas, procesarlas y mostrar resultados.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 · PRIMER PROGRAMA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UNA APLICACIÓN DE CONSOLA EMPIEZA CON ENTRADA Y SALIDA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090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programa ejecuta instrucciones en orden, de arriba abajo.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641600"/>
            <a:ext cx="3555911" cy="1982391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889538"/>
            <a:ext cx="30987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Leer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783" y="3412728"/>
            <a:ext cx="30987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Console.ReadLine: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recibe texto del usuario.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17892" y="2641600"/>
            <a:ext cx="3555911" cy="1982391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9" name="Text 7"/>
          <p:cNvSpPr/>
          <p:nvPr/>
        </p:nvSpPr>
        <p:spPr>
          <a:xfrm>
            <a:off x="4546486" y="2889538"/>
            <a:ext cx="30987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Procesar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46486" y="3412728"/>
            <a:ext cx="309872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La lógica transforma los datos.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78595" y="2641600"/>
            <a:ext cx="3555911" cy="1982391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12" name="Text 10"/>
          <p:cNvSpPr/>
          <p:nvPr/>
        </p:nvSpPr>
        <p:spPr>
          <a:xfrm>
            <a:off x="8407190" y="2889538"/>
            <a:ext cx="30987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Responder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07190" y="3412728"/>
            <a:ext cx="309872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Console.WriteLine: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muestra información en pantalla.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189" y="5664200"/>
            <a:ext cx="11277318" cy="736600"/>
          </a:xfrm>
          <a:prstGeom prst="rect">
            <a:avLst/>
          </a:prstGeom>
          <a:solidFill>
            <a:srgbClr val="731830"/>
          </a:solidFill>
          <a:ln/>
        </p:spPr>
      </p:sp>
      <p:sp>
        <p:nvSpPr>
          <p:cNvPr id="15" name="Text 13"/>
          <p:cNvSpPr/>
          <p:nvPr/>
        </p:nvSpPr>
        <p:spPr>
          <a:xfrm>
            <a:off x="736582" y="5875337"/>
            <a:ext cx="1099792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Ejemplo guía: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pedir un nombre y saludarlo.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69747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 · DATOS Y DECISIONES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6517517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VARIABLES Y OPERADORES CONVIERTEN DATOS EN DECISIONES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2565400"/>
            <a:ext cx="3106362" cy="2379266"/>
          </a:xfrm>
          <a:prstGeom prst="roundRect">
            <a:avLst>
              <a:gd name="adj" fmla="val 1601"/>
            </a:avLst>
          </a:prstGeom>
          <a:solidFill>
            <a:srgbClr val="255B47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810730"/>
            <a:ext cx="26491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Tipos básicos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3307358"/>
            <a:ext cx="264917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·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·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·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783" y="4128413"/>
            <a:ext cx="264917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DDBFB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Números, decimales, texto y valores lógicos.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68343" y="2565400"/>
            <a:ext cx="3106362" cy="2379266"/>
          </a:xfrm>
          <a:prstGeom prst="roundRect">
            <a:avLst>
              <a:gd name="adj" fmla="val 1601"/>
            </a:avLst>
          </a:prstGeom>
          <a:solidFill>
            <a:srgbClr val="255B47"/>
          </a:solidFill>
          <a:ln/>
        </p:spPr>
      </p:sp>
      <p:sp>
        <p:nvSpPr>
          <p:cNvPr id="9" name="Text 7"/>
          <p:cNvSpPr/>
          <p:nvPr/>
        </p:nvSpPr>
        <p:spPr>
          <a:xfrm>
            <a:off x="4096937" y="2810730"/>
            <a:ext cx="26491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Operadores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96937" y="3307358"/>
            <a:ext cx="2877768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- * / 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96937" y="3791863"/>
            <a:ext cx="264917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DDBFB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Calculan, comparan y combinan condiciones.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189" y="5173266"/>
            <a:ext cx="3106362" cy="1130300"/>
          </a:xfrm>
          <a:prstGeom prst="rect">
            <a:avLst/>
          </a:prstGeom>
          <a:solidFill>
            <a:srgbClr val="73183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783" y="5409803"/>
            <a:ext cx="264917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Comparación: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 != &gt; &lt;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68343" y="5173266"/>
            <a:ext cx="3106362" cy="113030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15" name="Text 13"/>
          <p:cNvSpPr/>
          <p:nvPr/>
        </p:nvSpPr>
        <p:spPr>
          <a:xfrm>
            <a:off x="4096937" y="5409803"/>
            <a:ext cx="2877768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Lógica: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 || !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05 · CONTROL DEL FLUJO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LAS ESTRUCTURAS DE CONTROL DIRIGEN EL FLUJO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600200"/>
            <a:ext cx="5486263" cy="129282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84553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if / else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2342158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Elige entre dos caminos.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8244" y="1600200"/>
            <a:ext cx="5486263" cy="129282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184553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switch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76838" y="2342158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Responde a varias opciones.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197820"/>
            <a:ext cx="5486263" cy="162302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344315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783" y="3939778"/>
            <a:ext cx="525766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Repite un número conocido de veces.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244" y="3197820"/>
            <a:ext cx="5486263" cy="162302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44315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while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76838" y="3939778"/>
            <a:ext cx="502907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Repite mientras una condición sea verdadera.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049441"/>
            <a:ext cx="11277318" cy="965200"/>
          </a:xfrm>
          <a:prstGeom prst="roundRect">
            <a:avLst>
              <a:gd name="adj" fmla="val 3947"/>
            </a:avLst>
          </a:prstGeom>
          <a:solidFill>
            <a:srgbClr val="255B47"/>
          </a:solidFill>
          <a:ln/>
        </p:spPr>
      </p:sp>
      <p:sp>
        <p:nvSpPr>
          <p:cNvPr id="17" name="Text 15"/>
          <p:cNvSpPr/>
          <p:nvPr/>
        </p:nvSpPr>
        <p:spPr>
          <a:xfrm>
            <a:off x="711182" y="5374878"/>
            <a:ext cx="1137891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Una estructura de control cambia el orden natural de las instrucciones.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580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06 · ANTES DEL CÓDIGO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6096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LA LÓGICA SE DISEÑA ANTES DE ESCRIBIR CÓDIGO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2954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E4A3A"/>
          </a:solidFill>
          <a:ln/>
        </p:spPr>
      </p:sp>
      <p:sp>
        <p:nvSpPr>
          <p:cNvPr id="5" name="Text 3"/>
          <p:cNvSpPr/>
          <p:nvPr/>
        </p:nvSpPr>
        <p:spPr>
          <a:xfrm>
            <a:off x="611668" y="1371600"/>
            <a:ext cx="7069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374" y="1337530"/>
            <a:ext cx="106931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Definir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1374" y="1834158"/>
            <a:ext cx="106931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Describe el problema y la salida esperada.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189" y="261362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E4A3A"/>
          </a:solidFill>
          <a:ln/>
        </p:spPr>
      </p:sp>
      <p:sp>
        <p:nvSpPr>
          <p:cNvPr id="9" name="Text 7"/>
          <p:cNvSpPr/>
          <p:nvPr/>
        </p:nvSpPr>
        <p:spPr>
          <a:xfrm>
            <a:off x="607402" y="2689820"/>
            <a:ext cx="7155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374" y="2655750"/>
            <a:ext cx="106931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Separar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74" y="3152378"/>
            <a:ext cx="106931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Identifica entradas, procesos y decisiones.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189" y="3931841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E4A3A"/>
          </a:solidFill>
          <a:ln/>
        </p:spPr>
      </p:sp>
      <p:sp>
        <p:nvSpPr>
          <p:cNvPr id="13" name="Text 11"/>
          <p:cNvSpPr/>
          <p:nvPr/>
        </p:nvSpPr>
        <p:spPr>
          <a:xfrm>
            <a:off x="605715" y="4008041"/>
            <a:ext cx="71882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1374" y="3973971"/>
            <a:ext cx="106931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Ordenar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374" y="4470598"/>
            <a:ext cx="106931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Escribe pasos en lenguaje cotidiano o pseudocódigo.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250061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E4A3A"/>
          </a:solidFill>
          <a:ln/>
        </p:spPr>
      </p:sp>
      <p:sp>
        <p:nvSpPr>
          <p:cNvPr id="17" name="Text 15"/>
          <p:cNvSpPr/>
          <p:nvPr/>
        </p:nvSpPr>
        <p:spPr>
          <a:xfrm>
            <a:off x="601052" y="5326261"/>
            <a:ext cx="7282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41374" y="5292191"/>
            <a:ext cx="106931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Probar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41374" y="5788819"/>
            <a:ext cx="106931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Revisa casos normales, límites y errores.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189" y="6347619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Programar convierte una solución ordenada en instrucciones precisas.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189" y="2378670"/>
            <a:ext cx="11277318" cy="12700"/>
          </a:xfrm>
          <a:prstGeom prst="rect">
            <a:avLst/>
          </a:prstGeom>
          <a:solidFill>
            <a:srgbClr val="7E2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189" y="3696891"/>
            <a:ext cx="11277318" cy="12700"/>
          </a:xfrm>
          <a:prstGeom prst="rect">
            <a:avLst/>
          </a:prstGeom>
          <a:solidFill>
            <a:srgbClr val="7E2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189" y="5015111"/>
            <a:ext cx="11277318" cy="12700"/>
          </a:xfrm>
          <a:prstGeom prst="rect">
            <a:avLst/>
          </a:prstGeom>
          <a:solidFill>
            <a:srgbClr val="7E2A3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07 · BASE COMPARTIDA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C# Y JAVA COMPARTEN UNA BASE, PERO NO EL MISMO ECOSISTEMA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2082800"/>
            <a:ext cx="5486263" cy="2182416"/>
          </a:xfrm>
          <a:prstGeom prst="roundRect">
            <a:avLst>
              <a:gd name="adj" fmla="val 1746"/>
            </a:avLst>
          </a:prstGeom>
          <a:noFill/>
          <a:ln w="25399">
            <a:solidFill>
              <a:srgbClr val="3E7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182" y="2356138"/>
            <a:ext cx="497827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C#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82" y="2871391"/>
            <a:ext cx="4978275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Llaves, punto y coma, clases, interfaces y tipado fuerte.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 integra con .NET.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48244" y="2082800"/>
            <a:ext cx="5486263" cy="2182416"/>
          </a:xfrm>
          <a:prstGeom prst="roundRect">
            <a:avLst>
              <a:gd name="adj" fmla="val 1746"/>
            </a:avLst>
          </a:prstGeom>
          <a:noFill/>
          <a:ln w="25399">
            <a:solidFill>
              <a:srgbClr val="3E7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2237" y="2356138"/>
            <a:ext cx="497827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Java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02237" y="2871391"/>
            <a:ext cx="4978275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La misma base de sintaxis, clases, interfaces y orientación a objetos.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 ejecuta sobre la JVM.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189" y="4739146"/>
            <a:ext cx="353051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Comparten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189" y="5235773"/>
            <a:ext cx="35305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,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y excepciones.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44889" y="4739146"/>
            <a:ext cx="33019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También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44889" y="5235773"/>
            <a:ext cx="330191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Ambos permiten desarrollar aplicaciones multiplataforma.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75400" y="4493816"/>
            <a:ext cx="3759106" cy="1953220"/>
          </a:xfrm>
          <a:custGeom>
            <a:avLst/>
            <a:gdLst/>
            <a:ahLst/>
            <a:cxnLst/>
            <a:rect l="l" t="t" r="r" b="b"/>
            <a:pathLst>
              <a:path w="3759106" h="1953220">
                <a:moveTo>
                  <a:pt x="0" y="0"/>
                </a:moveTo>
                <a:lnTo>
                  <a:pt x="3727357" y="0"/>
                </a:lnTo>
                <a:arcTo hR="31750" wR="31749" stAng="16200000" swAng="5400000"/>
                <a:lnTo>
                  <a:pt x="3759106" y="1921470"/>
                </a:lnTo>
                <a:arcTo hR="31750" wR="31749" stAng="0" swAng="5400000"/>
                <a:lnTo>
                  <a:pt x="0" y="1953220"/>
                </a:lnTo>
                <a:lnTo>
                  <a:pt x="0" y="0"/>
                </a:lnTo>
                <a:close/>
              </a:path>
            </a:pathLst>
          </a:custGeom>
          <a:solidFill>
            <a:srgbClr val="FFE4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03995" y="4739146"/>
            <a:ext cx="330191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Pero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03995" y="5235773"/>
            <a:ext cx="35305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ecosistema cambia.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09945" y="4493816"/>
            <a:ext cx="12700" cy="1953220"/>
          </a:xfrm>
          <a:prstGeom prst="rect">
            <a:avLst/>
          </a:prstGeom>
          <a:solidFill>
            <a:srgbClr val="7E2A3E"/>
          </a:solidFill>
          <a:ln/>
        </p:spPr>
      </p:sp>
      <p:sp>
        <p:nvSpPr>
          <p:cNvPr id="18" name="Shape 16"/>
          <p:cNvSpPr/>
          <p:nvPr/>
        </p:nvSpPr>
        <p:spPr>
          <a:xfrm>
            <a:off x="7969051" y="4493816"/>
            <a:ext cx="12700" cy="1953220"/>
          </a:xfrm>
          <a:prstGeom prst="rect">
            <a:avLst/>
          </a:prstGeom>
          <a:solidFill>
            <a:srgbClr val="7E2A3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803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08 · CAMBIAR DE PLATAFORMA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91440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LAS DIFERENCIAS APARECEN AL CAMBIAR DE PLATAFORMA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600200"/>
            <a:ext cx="3555911" cy="3810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8836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Plataforma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2372320"/>
            <a:ext cx="3098722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C#</a:t>
            </a:r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se integra con .NET.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Java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se ejecuta sobre la JVM.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17892" y="1600200"/>
            <a:ext cx="3555911" cy="3810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18836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Excepciones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46486" y="2372320"/>
            <a:ext cx="3098722" cy="147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C# no tiene excepciones comprobadas.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Java sí incorpora ese concepto.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78595" y="1600200"/>
            <a:ext cx="3555911" cy="38100"/>
          </a:xfrm>
          <a:prstGeom prst="rect">
            <a:avLst/>
          </a:prstGeom>
          <a:solidFill>
            <a:srgbClr val="1E4A3A"/>
          </a:solidFill>
          <a:ln/>
        </p:spPr>
      </p:sp>
      <p:sp>
        <p:nvSpPr>
          <p:cNvPr id="11" name="Text 9"/>
          <p:cNvSpPr/>
          <p:nvPr/>
        </p:nvSpPr>
        <p:spPr>
          <a:xfrm>
            <a:off x="8407190" y="1883630"/>
            <a:ext cx="30987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BF3E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07190" y="2372320"/>
            <a:ext cx="3098722" cy="147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C# ofrece propiedades, eventos y LINQ.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Java tiene sus propias convenciones y bibliotecas.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299545"/>
            <a:ext cx="11277318" cy="787400"/>
          </a:xfrm>
          <a:prstGeom prst="rect">
            <a:avLst/>
          </a:prstGeom>
          <a:solidFill>
            <a:srgbClr val="731830"/>
          </a:solidFill>
          <a:ln/>
        </p:spPr>
      </p:sp>
      <p:sp>
        <p:nvSpPr>
          <p:cNvPr id="14" name="Text 12"/>
          <p:cNvSpPr/>
          <p:nvPr/>
        </p:nvSpPr>
        <p:spPr>
          <a:xfrm>
            <a:off x="761981" y="4536083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4E8DA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Idea clave: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la sintaxis familiar ayuda, pero no reemplaza aprender el ecosistema.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05691"/>
            <a:ext cx="70102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BF3E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RETO FINAL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1182" y="1228979"/>
            <a:ext cx="6705432" cy="2816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UNA CALCULADORA</a:t>
            </a:r>
            <a:endParaRPr lang="en-US" sz="8400" dirty="0"/>
          </a:p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FBF3E6"/>
                </a:solidFill>
                <a:latin typeface="Fira Sans Extra Condensed Black" pitchFamily="34" charset="0"/>
                <a:ea typeface="Fira Sans Extra Condensed Black" pitchFamily="34" charset="-122"/>
                <a:cs typeface="Fira Sans Extra Condensed Black" pitchFamily="34" charset="-120"/>
              </a:rPr>
              <a:t>DE CONSOLA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711182" y="4176613"/>
            <a:ext cx="355591" cy="381000"/>
          </a:xfrm>
          <a:prstGeom prst="roundRect">
            <a:avLst>
              <a:gd name="adj" fmla="val 10714"/>
            </a:avLst>
          </a:prstGeom>
          <a:solidFill>
            <a:srgbClr val="1E4A3A"/>
          </a:solidFill>
          <a:ln/>
        </p:spPr>
      </p:sp>
      <p:sp>
        <p:nvSpPr>
          <p:cNvPr id="5" name="Text 3"/>
          <p:cNvSpPr/>
          <p:nvPr/>
        </p:nvSpPr>
        <p:spPr>
          <a:xfrm>
            <a:off x="840263" y="4240113"/>
            <a:ext cx="7069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19170" y="4203601"/>
            <a:ext cx="61974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Pedir dos números y una operación.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1182" y="4710013"/>
            <a:ext cx="359957" cy="381000"/>
          </a:xfrm>
          <a:prstGeom prst="roundRect">
            <a:avLst>
              <a:gd name="adj" fmla="val 10584"/>
            </a:avLst>
          </a:prstGeom>
          <a:solidFill>
            <a:srgbClr val="1E4A3A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4773513"/>
            <a:ext cx="7155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23535" y="4730651"/>
            <a:ext cx="6193079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Usar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highlight>
                  <a:srgbClr val="7318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para elegir el cálculo.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1182" y="5243413"/>
            <a:ext cx="363231" cy="381000"/>
          </a:xfrm>
          <a:prstGeom prst="roundRect">
            <a:avLst>
              <a:gd name="adj" fmla="val 10489"/>
            </a:avLst>
          </a:prstGeom>
          <a:solidFill>
            <a:srgbClr val="1E4A3A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5306913"/>
            <a:ext cx="71882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26809" y="5270401"/>
            <a:ext cx="618980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Mostrar el resultado y manejar división entre cero.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1182" y="5776813"/>
            <a:ext cx="372656" cy="381000"/>
          </a:xfrm>
          <a:prstGeom prst="roundRect">
            <a:avLst>
              <a:gd name="adj" fmla="val 10224"/>
            </a:avLst>
          </a:prstGeom>
          <a:solidFill>
            <a:srgbClr val="1E4A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5840313"/>
            <a:ext cx="7282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 Extra Condensed SemiBold" pitchFamily="34" charset="0"/>
                <a:ea typeface="Fira Sans Extra Condensed SemiBold" pitchFamily="34" charset="-122"/>
                <a:cs typeface="Fira Sans Extra Condensed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6235" y="5803801"/>
            <a:ext cx="61803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4E8D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Probar casos normales y errores.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004" y="381000"/>
            <a:ext cx="3860703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2026-10-18T00:39:03Z</dcterms:created>
  <dcterms:modified xsi:type="dcterms:W3CDTF">2026-10-18T00:39:03Z</dcterms:modified>
</cp:coreProperties>
</file>